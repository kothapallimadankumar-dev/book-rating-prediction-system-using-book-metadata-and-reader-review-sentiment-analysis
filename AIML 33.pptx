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Noto Serif Thin"/>
      <p:regular r:id="rId201314"/>
    </p:embeddedFont>
    <p:embeddedFont>
      <p:font typeface="Noto Serif ExtraLight"/>
      <p:regular r:id="rId201315"/>
    </p:embeddedFont>
    <p:embeddedFont>
      <p:font typeface="Noto Serif ExtraBold"/>
      <p:regular r:id="rId201316"/>
    </p:embeddedFont>
    <p:embeddedFont>
      <p:font typeface="Noto Serif Black"/>
      <p:regular r:id="rId201317"/>
    </p:embeddedFont>
    <p:embeddedFont>
      <p:font typeface="Noto Serif Light"/>
      <p:regular r:id="rId201318"/>
    </p:embeddedFont>
    <p:embeddedFont>
      <p:font typeface="Noto Serif"/>
      <p:regular r:id="rId201319"/>
    </p:embeddedFont>
    <p:embeddedFont>
      <p:font typeface="Noto Serif Medium"/>
      <p:regular r:id="rId201320"/>
    </p:embeddedFont>
    <p:embeddedFont>
      <p:font typeface="Noto Serif SemiBold"/>
      <p:regular r:id="rId201321"/>
    </p:embeddedFont>
    <p:embeddedFont>
      <p:font typeface="Noto Serif Bold"/>
      <p:regular r:id="rId2013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494830"/>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Book Rating Prediction System</a:t>
            </a:r>
            <a:endParaRPr lang="en-US" sz="2750" dirty="0"/>
          </a:p>
        </p:txBody>
      </p:sp>
      <p:sp>
        <p:nvSpPr>
          <p:cNvPr id="4" name="Text 1"/>
          <p:cNvSpPr/>
          <p:nvPr/>
        </p:nvSpPr>
        <p:spPr>
          <a:xfrm>
            <a:off x="496119" y="2593404"/>
            <a:ext cx="472276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Using book metadata and reader review sentiment analysis to power intelligent, accurate rating predictions for digital libraries and online bookstores.</a:t>
            </a:r>
            <a:endParaRPr lang="en-US" sz="1100" dirty="0"/>
          </a:p>
        </p:txBody>
      </p:sp>
      <p:sp>
        <p:nvSpPr>
          <p:cNvPr id="5" name="Shape 2"/>
          <p:cNvSpPr/>
          <p:nvPr/>
        </p:nvSpPr>
        <p:spPr>
          <a:xfrm>
            <a:off x="496119" y="3433316"/>
            <a:ext cx="2968303" cy="215354"/>
          </a:xfrm>
          <a:prstGeom prst="roundRect">
            <a:avLst>
              <a:gd name="adj" fmla="val 22119"/>
            </a:avLst>
          </a:prstGeom>
          <a:solidFill>
            <a:srgbClr val="E8E6E3"/>
          </a:solidFill>
          <a:ln/>
        </p:spPr>
      </p:sp>
      <p:sp>
        <p:nvSpPr>
          <p:cNvPr id="6" name="Text 3"/>
          <p:cNvSpPr/>
          <p:nvPr/>
        </p:nvSpPr>
        <p:spPr>
          <a:xfrm>
            <a:off x="581174" y="3475806"/>
            <a:ext cx="3255392" cy="130373"/>
          </a:xfrm>
          <a:prstGeom prst="rect">
            <a:avLst/>
          </a:prstGeom>
          <a:noFill/>
          <a:ln/>
        </p:spPr>
        <p:txBody>
          <a:bodyPr wrap="none" lIns="0" tIns="0" rIns="0" bIns="0" rtlCol="0" anchor="t"/>
          <a:lstStyle/>
          <a:p>
            <a:pPr algn="l" indent="0" marL="0">
              <a:lnSpc>
                <a:spcPct val="96000"/>
              </a:lnSpc>
              <a:buNone/>
            </a:pPr>
            <a:r>
              <a:rPr lang="en-US" sz="850" dirty="0">
                <a:solidFill>
                  <a:srgbClr val="4C4C4C"/>
                </a:solidFill>
                <a:latin typeface="Noto Serif" pitchFamily="34" charset="0"/>
                <a:ea typeface="Noto Serif" pitchFamily="34" charset="-122"/>
                <a:cs typeface="Noto Serif" pitchFamily="34" charset="-120"/>
              </a:rPr>
              <a:t>NLP · MACHINE LEARNING · SENTIMENT ANALYSIS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341983"/>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The Problem: Too Many Books, Too Little Signal</a:t>
            </a:r>
            <a:endParaRPr lang="en-US" sz="2750" dirty="0"/>
          </a:p>
        </p:txBody>
      </p:sp>
      <p:sp>
        <p:nvSpPr>
          <p:cNvPr id="4" name="Text 1"/>
          <p:cNvSpPr/>
          <p:nvPr/>
        </p:nvSpPr>
        <p:spPr>
          <a:xfrm>
            <a:off x="496119" y="2440558"/>
            <a:ext cx="4722763" cy="1360884"/>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Online bookstores and digital libraries host millions of titles, yet readers struggle to identify high-quality books from available information. Traditional rating systems rely solely on user-submitted scores — which are often sparse, inconsistent, or biased. Publishers and platforms lack intelligent tools to estimate book quality before ratings accumulate.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829047"/>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Limitations of Traditional Rating Systems</a:t>
            </a:r>
            <a:endParaRPr lang="en-US" sz="2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555552"/>
            <a:ext cx="4004965" cy="1308571"/>
          </a:xfrm>
          <a:prstGeom prst="rect">
            <a:avLst/>
          </a:prstGeom>
        </p:spPr>
      </p:pic>
      <p:sp>
        <p:nvSpPr>
          <p:cNvPr id="4" name="Text 1"/>
          <p:cNvSpPr/>
          <p:nvPr/>
        </p:nvSpPr>
        <p:spPr>
          <a:xfrm>
            <a:off x="733127" y="1716360"/>
            <a:ext cx="3607147"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Sparse Data</a:t>
            </a:r>
            <a:endParaRPr lang="en-US" sz="1350" dirty="0"/>
          </a:p>
        </p:txBody>
      </p:sp>
      <p:sp>
        <p:nvSpPr>
          <p:cNvPr id="5" name="Text 2"/>
          <p:cNvSpPr/>
          <p:nvPr/>
        </p:nvSpPr>
        <p:spPr>
          <a:xfrm>
            <a:off x="733127" y="2022872"/>
            <a:ext cx="360714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New or niche titles may have few or no ratings, leaving readers without guidance.</a:t>
            </a:r>
            <a:endParaRPr lang="en-US" sz="11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42842" y="1555552"/>
            <a:ext cx="4005039" cy="1308571"/>
          </a:xfrm>
          <a:prstGeom prst="rect">
            <a:avLst/>
          </a:prstGeom>
        </p:spPr>
      </p:pic>
      <p:sp>
        <p:nvSpPr>
          <p:cNvPr id="7" name="Text 3"/>
          <p:cNvSpPr/>
          <p:nvPr/>
        </p:nvSpPr>
        <p:spPr>
          <a:xfrm>
            <a:off x="4879851" y="1716360"/>
            <a:ext cx="3607222"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Rating Bias</a:t>
            </a:r>
            <a:endParaRPr lang="en-US" sz="1350" dirty="0"/>
          </a:p>
        </p:txBody>
      </p:sp>
      <p:sp>
        <p:nvSpPr>
          <p:cNvPr id="8" name="Text 4"/>
          <p:cNvSpPr/>
          <p:nvPr/>
        </p:nvSpPr>
        <p:spPr>
          <a:xfrm>
            <a:off x="4879851" y="2022872"/>
            <a:ext cx="3607222"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Self-selected reviewers skew scores — enthusiastic or disgruntled readers over-represent the average opinion.</a:t>
            </a:r>
            <a:endParaRPr lang="en-US" sz="11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005882"/>
            <a:ext cx="4004965" cy="1308571"/>
          </a:xfrm>
          <a:prstGeom prst="rect">
            <a:avLst/>
          </a:prstGeom>
        </p:spPr>
      </p:pic>
      <p:sp>
        <p:nvSpPr>
          <p:cNvPr id="10" name="Text 5"/>
          <p:cNvSpPr/>
          <p:nvPr/>
        </p:nvSpPr>
        <p:spPr>
          <a:xfrm>
            <a:off x="733127" y="3166690"/>
            <a:ext cx="3607147"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No Contextual Intelligence</a:t>
            </a:r>
            <a:endParaRPr lang="en-US" sz="1350" dirty="0"/>
          </a:p>
        </p:txBody>
      </p:sp>
      <p:sp>
        <p:nvSpPr>
          <p:cNvPr id="11" name="Text 6"/>
          <p:cNvSpPr/>
          <p:nvPr/>
        </p:nvSpPr>
        <p:spPr>
          <a:xfrm>
            <a:off x="733127" y="3473202"/>
            <a:ext cx="3607147"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Raw star ratings ignore genre, author reputation, publication quality, and the actual sentiment of written reviews.</a:t>
            </a:r>
            <a:endParaRPr lang="en-US" sz="11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42842" y="3005882"/>
            <a:ext cx="4005039" cy="1308571"/>
          </a:xfrm>
          <a:prstGeom prst="rect">
            <a:avLst/>
          </a:prstGeom>
        </p:spPr>
      </p:pic>
      <p:sp>
        <p:nvSpPr>
          <p:cNvPr id="13" name="Text 7"/>
          <p:cNvSpPr/>
          <p:nvPr/>
        </p:nvSpPr>
        <p:spPr>
          <a:xfrm>
            <a:off x="4879851" y="3166690"/>
            <a:ext cx="3607222"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Static &amp; Non-Predictive</a:t>
            </a:r>
            <a:endParaRPr lang="en-US" sz="1350" dirty="0"/>
          </a:p>
        </p:txBody>
      </p:sp>
      <p:sp>
        <p:nvSpPr>
          <p:cNvPr id="14" name="Text 8"/>
          <p:cNvSpPr/>
          <p:nvPr/>
        </p:nvSpPr>
        <p:spPr>
          <a:xfrm>
            <a:off x="4879851" y="3473202"/>
            <a:ext cx="3607222"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Existing systems report historical ratings but cannot predict expected ratings for new or under-reviewed titles.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6119" y="1102593"/>
            <a:ext cx="5185172" cy="2938239"/>
          </a:xfrm>
          <a:prstGeom prst="rect">
            <a:avLst/>
          </a:prstGeom>
        </p:spPr>
      </p:pic>
      <p:sp>
        <p:nvSpPr>
          <p:cNvPr id="3" name="Shape 0"/>
          <p:cNvSpPr/>
          <p:nvPr/>
        </p:nvSpPr>
        <p:spPr>
          <a:xfrm>
            <a:off x="6010201" y="537121"/>
            <a:ext cx="945803" cy="201885"/>
          </a:xfrm>
          <a:prstGeom prst="roundRect">
            <a:avLst>
              <a:gd name="adj" fmla="val 22120"/>
            </a:avLst>
          </a:prstGeom>
          <a:noFill/>
          <a:ln w="4763">
            <a:solidFill>
              <a:srgbClr val="9C9283"/>
            </a:solidFill>
            <a:prstDash val="solid"/>
          </a:ln>
        </p:spPr>
      </p:sp>
      <p:sp>
        <p:nvSpPr>
          <p:cNvPr id="4" name="Text 1"/>
          <p:cNvSpPr/>
          <p:nvPr/>
        </p:nvSpPr>
        <p:spPr>
          <a:xfrm>
            <a:off x="6089898" y="576932"/>
            <a:ext cx="1243608" cy="122262"/>
          </a:xfrm>
          <a:prstGeom prst="rect">
            <a:avLst/>
          </a:prstGeom>
          <a:noFill/>
          <a:ln/>
        </p:spPr>
        <p:txBody>
          <a:bodyPr wrap="none" lIns="0" tIns="0" rIns="0" bIns="0" rtlCol="0" anchor="t"/>
          <a:lstStyle/>
          <a:p>
            <a:pPr algn="l" indent="0" marL="0">
              <a:lnSpc>
                <a:spcPct val="96000"/>
              </a:lnSpc>
              <a:buNone/>
            </a:pPr>
            <a:r>
              <a:rPr lang="en-US" sz="800" dirty="0">
                <a:solidFill>
                  <a:srgbClr val="9C9283"/>
                </a:solidFill>
                <a:latin typeface="Noto Serif" pitchFamily="34" charset="0"/>
                <a:ea typeface="Noto Serif" pitchFamily="34" charset="-122"/>
                <a:cs typeface="Noto Serif" pitchFamily="34" charset="-120"/>
              </a:rPr>
              <a:t>THE SOLUTION</a:t>
            </a:r>
            <a:endParaRPr lang="en-US" sz="800" dirty="0"/>
          </a:p>
        </p:txBody>
      </p:sp>
      <p:sp>
        <p:nvSpPr>
          <p:cNvPr id="5" name="Text 2"/>
          <p:cNvSpPr/>
          <p:nvPr/>
        </p:nvSpPr>
        <p:spPr>
          <a:xfrm>
            <a:off x="6010201" y="788789"/>
            <a:ext cx="2642369" cy="1661220"/>
          </a:xfrm>
          <a:prstGeom prst="rect">
            <a:avLst/>
          </a:prstGeom>
          <a:noFill/>
          <a:ln/>
        </p:spPr>
        <p:txBody>
          <a:bodyPr wrap="square" lIns="0" tIns="0" rIns="0" bIns="0" rtlCol="0" anchor="t">
            <a:normAutofit/>
          </a:bodyPr>
          <a:lstStyle/>
          <a:p>
            <a:pPr algn="l" indent="0" marL="0">
              <a:lnSpc>
                <a:spcPct val="104000"/>
              </a:lnSpc>
              <a:buNone/>
            </a:pPr>
            <a:r>
              <a:rPr lang="en-US" sz="2600" dirty="0">
                <a:solidFill>
                  <a:srgbClr val="3A3A3A"/>
                </a:solidFill>
                <a:latin typeface="Noto Serif Medium" pitchFamily="34" charset="0"/>
                <a:ea typeface="Noto Serif Medium" pitchFamily="34" charset="-122"/>
                <a:cs typeface="Noto Serif Medium" pitchFamily="34" charset="-120"/>
              </a:rPr>
              <a:t>An Intelligent, Unified Prediction Platform</a:t>
            </a:r>
            <a:endParaRPr lang="en-US" sz="2600" dirty="0"/>
          </a:p>
        </p:txBody>
      </p:sp>
      <p:sp>
        <p:nvSpPr>
          <p:cNvPr id="6" name="Text 3"/>
          <p:cNvSpPr/>
          <p:nvPr/>
        </p:nvSpPr>
        <p:spPr>
          <a:xfrm>
            <a:off x="6010201" y="2574578"/>
            <a:ext cx="2642369" cy="2059781"/>
          </a:xfrm>
          <a:prstGeom prst="rect">
            <a:avLst/>
          </a:prstGeom>
          <a:noFill/>
          <a:ln/>
        </p:spPr>
        <p:txBody>
          <a:bodyPr wrap="square" lIns="0" tIns="0" rIns="0" bIns="0" rtlCol="0" anchor="t">
            <a:normAutofit/>
          </a:bodyPr>
          <a:lstStyle/>
          <a:p>
            <a:pPr algn="l" indent="0" marL="0">
              <a:lnSpc>
                <a:spcPct val="129000"/>
              </a:lnSpc>
              <a:buNone/>
            </a:pPr>
            <a:r>
              <a:rPr lang="en-US" sz="1000" dirty="0">
                <a:solidFill>
                  <a:srgbClr val="4C4C4C"/>
                </a:solidFill>
                <a:latin typeface="Noto Serif" pitchFamily="34" charset="0"/>
                <a:ea typeface="Noto Serif" pitchFamily="34" charset="-122"/>
                <a:cs typeface="Noto Serif" pitchFamily="34" charset="-120"/>
              </a:rPr>
              <a:t>The Book Rating Prediction System integrates </a:t>
            </a:r>
            <a:pPr algn="l" indent="0" marL="0">
              <a:lnSpc>
                <a:spcPct val="129000"/>
              </a:lnSpc>
              <a:buNone/>
            </a:pPr>
            <a:r>
              <a:rPr lang="en-US" sz="1000" b="1" dirty="0">
                <a:solidFill>
                  <a:srgbClr val="4C4C4C"/>
                </a:solidFill>
                <a:latin typeface="Noto Serif Bold" pitchFamily="34" charset="0"/>
                <a:ea typeface="Noto Serif Bold" pitchFamily="34" charset="-122"/>
                <a:cs typeface="Noto Serif Bold" pitchFamily="34" charset="-120"/>
              </a:rPr>
              <a:t>book metadata</a:t>
            </a:r>
            <a:pPr algn="l" indent="0" marL="0">
              <a:lnSpc>
                <a:spcPct val="129000"/>
              </a:lnSpc>
              <a:buNone/>
            </a:pPr>
            <a:r>
              <a:rPr lang="en-US" sz="1000" dirty="0">
                <a:solidFill>
                  <a:srgbClr val="4C4C4C"/>
                </a:solidFill>
                <a:latin typeface="Noto Serif" pitchFamily="34" charset="0"/>
                <a:ea typeface="Noto Serif" pitchFamily="34" charset="-122"/>
                <a:cs typeface="Noto Serif" pitchFamily="34" charset="-120"/>
              </a:rPr>
              <a:t> and </a:t>
            </a:r>
            <a:pPr algn="l" indent="0" marL="0">
              <a:lnSpc>
                <a:spcPct val="129000"/>
              </a:lnSpc>
              <a:buNone/>
            </a:pPr>
            <a:r>
              <a:rPr lang="en-US" sz="1000" b="1" dirty="0">
                <a:solidFill>
                  <a:srgbClr val="4C4C4C"/>
                </a:solidFill>
                <a:latin typeface="Noto Serif Bold" pitchFamily="34" charset="0"/>
                <a:ea typeface="Noto Serif Bold" pitchFamily="34" charset="-122"/>
                <a:cs typeface="Noto Serif Bold" pitchFamily="34" charset="-120"/>
              </a:rPr>
              <a:t>reader review sentiment</a:t>
            </a:r>
            <a:pPr algn="l" indent="0" marL="0">
              <a:lnSpc>
                <a:spcPct val="129000"/>
              </a:lnSpc>
              <a:buNone/>
            </a:pPr>
            <a:r>
              <a:rPr lang="en-US" sz="1000" dirty="0">
                <a:solidFill>
                  <a:srgbClr val="4C4C4C"/>
                </a:solidFill>
                <a:latin typeface="Noto Serif" pitchFamily="34" charset="0"/>
                <a:ea typeface="Noto Serif" pitchFamily="34" charset="-122"/>
                <a:cs typeface="Noto Serif" pitchFamily="34" charset="-120"/>
              </a:rPr>
              <a:t> through a secure, user-friendly interface. It combines Natural Language Processing, sentiment analysis, and machine learning to estimate expected ratings — generating prediction reports, trend visualisations, and actionable dashboards for readers, publishers, and platforms.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51321"/>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System Architecture at a Glance</a:t>
            </a:r>
            <a:endParaRPr lang="en-US" sz="2750" dirty="0"/>
          </a:p>
        </p:txBody>
      </p:sp>
      <p:pic>
        <p:nvPicPr>
          <p:cNvPr id="3" name="Image 0" descr="preencoded.png">    </p:cNvPr>
          <p:cNvPicPr>
            <a:picLocks noChangeAspect="1"/>
          </p:cNvPicPr>
          <p:nvPr/>
        </p:nvPicPr>
        <p:blipFill>
          <a:blip r:embed="rId1"/>
          <a:stretch>
            <a:fillRect/>
          </a:stretch>
        </p:blipFill>
        <p:spPr>
          <a:xfrm>
            <a:off x="1402407" y="1177826"/>
            <a:ext cx="6339185" cy="2901255"/>
          </a:xfrm>
          <a:prstGeom prst="rect">
            <a:avLst/>
          </a:prstGeom>
        </p:spPr>
      </p:pic>
      <p:sp>
        <p:nvSpPr>
          <p:cNvPr id="4" name="Text 1"/>
          <p:cNvSpPr/>
          <p:nvPr/>
        </p:nvSpPr>
        <p:spPr>
          <a:xfrm>
            <a:off x="6256361" y="3275491"/>
            <a:ext cx="1190142" cy="458531"/>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4C4C4C"/>
                </a:solidFill>
                <a:latin typeface="Noto Serif Medium" pitchFamily="34" charset="0"/>
                <a:ea typeface="Noto Serif Medium" pitchFamily="34" charset="-122"/>
                <a:cs typeface="Noto Serif Medium" pitchFamily="34" charset="-120"/>
              </a:rPr>
              <a:t>Reports &amp; Dashboard</a:t>
            </a:r>
            <a:endParaRPr lang="en-US" sz="1400" dirty="0"/>
          </a:p>
        </p:txBody>
      </p:sp>
      <p:sp>
        <p:nvSpPr>
          <p:cNvPr id="5" name="Text 2"/>
          <p:cNvSpPr/>
          <p:nvPr/>
        </p:nvSpPr>
        <p:spPr>
          <a:xfrm>
            <a:off x="4756456" y="3275491"/>
            <a:ext cx="1190143" cy="458531"/>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4C4C4C"/>
                </a:solidFill>
                <a:latin typeface="Noto Serif Medium" pitchFamily="34" charset="0"/>
                <a:ea typeface="Noto Serif Medium" pitchFamily="34" charset="-122"/>
                <a:cs typeface="Noto Serif Medium" pitchFamily="34" charset="-120"/>
              </a:rPr>
              <a:t>Prediction Model</a:t>
            </a:r>
            <a:endParaRPr lang="en-US" sz="1400" dirty="0"/>
          </a:p>
        </p:txBody>
      </p:sp>
      <p:sp>
        <p:nvSpPr>
          <p:cNvPr id="6" name="Text 3"/>
          <p:cNvSpPr/>
          <p:nvPr/>
        </p:nvSpPr>
        <p:spPr>
          <a:xfrm>
            <a:off x="3264702" y="3275491"/>
            <a:ext cx="1190142" cy="458531"/>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4C4C4C"/>
                </a:solidFill>
                <a:latin typeface="Noto Serif Medium" pitchFamily="34" charset="0"/>
                <a:ea typeface="Noto Serif Medium" pitchFamily="34" charset="-122"/>
                <a:cs typeface="Noto Serif Medium" pitchFamily="34" charset="-120"/>
              </a:rPr>
              <a:t>NLP &amp; Sentiment</a:t>
            </a:r>
            <a:endParaRPr lang="en-US" sz="1400" dirty="0"/>
          </a:p>
        </p:txBody>
      </p:sp>
      <p:sp>
        <p:nvSpPr>
          <p:cNvPr id="7" name="Text 4"/>
          <p:cNvSpPr/>
          <p:nvPr/>
        </p:nvSpPr>
        <p:spPr>
          <a:xfrm>
            <a:off x="1740341" y="3390124"/>
            <a:ext cx="1190142" cy="229265"/>
          </a:xfrm>
          <a:prstGeom prst="rect">
            <a:avLst/>
          </a:prstGeom>
          <a:noFill/>
          <a:ln/>
        </p:spPr>
        <p:txBody>
          <a:bodyPr wrap="none" lIns="0" tIns="0" rIns="0" bIns="0" rtlCol="0" anchor="t"/>
          <a:lstStyle/>
          <a:p>
            <a:pPr algn="ctr" indent="0" marL="0">
              <a:lnSpc>
                <a:spcPct val="104000"/>
              </a:lnSpc>
              <a:buNone/>
            </a:pPr>
            <a:r>
              <a:rPr lang="en-US" sz="1400" dirty="0">
                <a:solidFill>
                  <a:srgbClr val="4C4C4C"/>
                </a:solidFill>
                <a:latin typeface="Noto Serif Medium" pitchFamily="34" charset="0"/>
                <a:ea typeface="Noto Serif Medium" pitchFamily="34" charset="-122"/>
                <a:cs typeface="Noto Serif Medium" pitchFamily="34" charset="-120"/>
              </a:rPr>
              <a:t>Ingestion</a:t>
            </a:r>
            <a:endParaRPr lang="en-US" sz="1400" dirty="0"/>
          </a:p>
        </p:txBody>
      </p:sp>
      <p:sp>
        <p:nvSpPr>
          <p:cNvPr id="8" name="Text 5"/>
          <p:cNvSpPr/>
          <p:nvPr/>
        </p:nvSpPr>
        <p:spPr>
          <a:xfrm>
            <a:off x="496119" y="4238551"/>
            <a:ext cx="8151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The end-to-end pipeline transforms raw book data and unstructured reviews into structured, interpretable rating predictions — delivered through a centralised analytics dashboard.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534367"/>
            <a:ext cx="4722763" cy="1287438"/>
          </a:xfrm>
          <a:prstGeom prst="rect">
            <a:avLst/>
          </a:prstGeom>
          <a:noFill/>
          <a:ln/>
        </p:spPr>
        <p:txBody>
          <a:bodyPr wrap="square" lIns="0" tIns="0" rIns="0" bIns="0" rtlCol="0" anchor="t">
            <a:normAutofit/>
          </a:bodyPr>
          <a:lstStyle/>
          <a:p>
            <a:pPr algn="l" indent="0" marL="0">
              <a:lnSpc>
                <a:spcPct val="104000"/>
              </a:lnSpc>
              <a:buNone/>
            </a:pPr>
            <a:r>
              <a:rPr lang="en-US" sz="2700" dirty="0">
                <a:solidFill>
                  <a:srgbClr val="3A3A3A"/>
                </a:solidFill>
                <a:latin typeface="Noto Serif Medium" pitchFamily="34" charset="0"/>
                <a:ea typeface="Noto Serif Medium" pitchFamily="34" charset="-122"/>
                <a:cs typeface="Noto Serif Medium" pitchFamily="34" charset="-120"/>
              </a:rPr>
              <a:t>Natural Language Processing &amp; Sentiment Analysis</a:t>
            </a:r>
            <a:endParaRPr lang="en-US" sz="2700" dirty="0"/>
          </a:p>
        </p:txBody>
      </p:sp>
      <p:sp>
        <p:nvSpPr>
          <p:cNvPr id="4" name="Shape 1"/>
          <p:cNvSpPr/>
          <p:nvPr/>
        </p:nvSpPr>
        <p:spPr>
          <a:xfrm>
            <a:off x="496119" y="2021309"/>
            <a:ext cx="2294855" cy="1443707"/>
          </a:xfrm>
          <a:prstGeom prst="roundRect">
            <a:avLst>
              <a:gd name="adj" fmla="val 3995"/>
            </a:avLst>
          </a:prstGeom>
          <a:solidFill>
            <a:srgbClr val="E6DED2">
              <a:alpha val="50000"/>
            </a:srgbClr>
          </a:solidFill>
          <a:ln w="4763">
            <a:solidFill>
              <a:srgbClr val="CCC4B8"/>
            </a:solidFill>
            <a:prstDash val="solid"/>
          </a:ln>
          <a:effectLst>
            <a:outerShdw sx="100000" sy="100000" kx="0" ky="0" algn="bl" rotWithShape="0" blurRad="101600" dist="17780" dir="2700000">
              <a:srgbClr val="ccc4b8">
                <a:alpha val="100000"/>
              </a:srgbClr>
            </a:outerShdw>
          </a:effectLst>
        </p:spPr>
      </p:sp>
      <p:sp>
        <p:nvSpPr>
          <p:cNvPr id="5" name="Text 2"/>
          <p:cNvSpPr/>
          <p:nvPr/>
        </p:nvSpPr>
        <p:spPr>
          <a:xfrm>
            <a:off x="638175" y="2163366"/>
            <a:ext cx="2010742" cy="214536"/>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Noto Serif Medium" pitchFamily="34" charset="0"/>
                <a:ea typeface="Noto Serif Medium" pitchFamily="34" charset="-122"/>
                <a:cs typeface="Noto Serif Medium" pitchFamily="34" charset="-120"/>
              </a:rPr>
              <a:t>Review Parsing</a:t>
            </a:r>
            <a:endParaRPr lang="en-US" sz="1350" dirty="0"/>
          </a:p>
        </p:txBody>
      </p:sp>
      <p:sp>
        <p:nvSpPr>
          <p:cNvPr id="6" name="Text 3"/>
          <p:cNvSpPr/>
          <p:nvPr/>
        </p:nvSpPr>
        <p:spPr>
          <a:xfrm>
            <a:off x="638175" y="2457673"/>
            <a:ext cx="2010742" cy="865287"/>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000000"/>
                </a:solidFill>
                <a:latin typeface="Noto Serif" pitchFamily="34" charset="0"/>
                <a:ea typeface="Noto Serif" pitchFamily="34" charset="-122"/>
                <a:cs typeface="Noto Serif" pitchFamily="34" charset="-120"/>
              </a:rPr>
              <a:t>Tokenises and normalises reader reviews, filtering noise and extracting meaningful linguistic features.</a:t>
            </a:r>
            <a:endParaRPr lang="en-US" sz="1050" dirty="0"/>
          </a:p>
        </p:txBody>
      </p:sp>
      <p:sp>
        <p:nvSpPr>
          <p:cNvPr id="7" name="Shape 4"/>
          <p:cNvSpPr/>
          <p:nvPr/>
        </p:nvSpPr>
        <p:spPr>
          <a:xfrm>
            <a:off x="2923952" y="2021309"/>
            <a:ext cx="2294930" cy="1443707"/>
          </a:xfrm>
          <a:prstGeom prst="roundRect">
            <a:avLst>
              <a:gd name="adj" fmla="val 3995"/>
            </a:avLst>
          </a:prstGeom>
          <a:solidFill>
            <a:srgbClr val="E6DED2">
              <a:alpha val="50000"/>
            </a:srgbClr>
          </a:solidFill>
          <a:ln w="4763">
            <a:solidFill>
              <a:srgbClr val="CCC4B8"/>
            </a:solidFill>
            <a:prstDash val="solid"/>
          </a:ln>
          <a:effectLst>
            <a:outerShdw sx="100000" sy="100000" kx="0" ky="0" algn="bl" rotWithShape="0" blurRad="101600" dist="17780" dir="2700000">
              <a:srgbClr val="ccc4b8">
                <a:alpha val="100000"/>
              </a:srgbClr>
            </a:outerShdw>
          </a:effectLst>
        </p:spPr>
      </p:sp>
      <p:sp>
        <p:nvSpPr>
          <p:cNvPr id="8" name="Text 5"/>
          <p:cNvSpPr/>
          <p:nvPr/>
        </p:nvSpPr>
        <p:spPr>
          <a:xfrm>
            <a:off x="3066008" y="2163366"/>
            <a:ext cx="2010817" cy="214536"/>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Noto Serif Medium" pitchFamily="34" charset="0"/>
                <a:ea typeface="Noto Serif Medium" pitchFamily="34" charset="-122"/>
                <a:cs typeface="Noto Serif Medium" pitchFamily="34" charset="-120"/>
              </a:rPr>
              <a:t>Sentiment Scoring</a:t>
            </a:r>
            <a:endParaRPr lang="en-US" sz="1350" dirty="0"/>
          </a:p>
        </p:txBody>
      </p:sp>
      <p:sp>
        <p:nvSpPr>
          <p:cNvPr id="9" name="Text 6"/>
          <p:cNvSpPr/>
          <p:nvPr/>
        </p:nvSpPr>
        <p:spPr>
          <a:xfrm>
            <a:off x="3066008" y="2457673"/>
            <a:ext cx="2010817" cy="865287"/>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000000"/>
                </a:solidFill>
                <a:latin typeface="Noto Serif" pitchFamily="34" charset="0"/>
                <a:ea typeface="Noto Serif" pitchFamily="34" charset="-122"/>
                <a:cs typeface="Noto Serif" pitchFamily="34" charset="-120"/>
              </a:rPr>
              <a:t>Assigns polarity scores (positive, neutral, negative) to review text, capturing reader emotion and opinion intensity.</a:t>
            </a:r>
            <a:endParaRPr lang="en-US" sz="1050" dirty="0"/>
          </a:p>
        </p:txBody>
      </p:sp>
      <p:sp>
        <p:nvSpPr>
          <p:cNvPr id="10" name="Shape 7"/>
          <p:cNvSpPr/>
          <p:nvPr/>
        </p:nvSpPr>
        <p:spPr>
          <a:xfrm>
            <a:off x="496119" y="3597994"/>
            <a:ext cx="4722763" cy="1011064"/>
          </a:xfrm>
          <a:prstGeom prst="roundRect">
            <a:avLst>
              <a:gd name="adj" fmla="val 5705"/>
            </a:avLst>
          </a:prstGeom>
          <a:solidFill>
            <a:srgbClr val="E6DED2">
              <a:alpha val="50000"/>
            </a:srgbClr>
          </a:solidFill>
          <a:ln w="4763">
            <a:solidFill>
              <a:srgbClr val="CCC4B8"/>
            </a:solidFill>
            <a:prstDash val="solid"/>
          </a:ln>
          <a:effectLst>
            <a:outerShdw sx="100000" sy="100000" kx="0" ky="0" algn="bl" rotWithShape="0" blurRad="101600" dist="17780" dir="2700000">
              <a:srgbClr val="ccc4b8">
                <a:alpha val="100000"/>
              </a:srgbClr>
            </a:outerShdw>
          </a:effectLst>
        </p:spPr>
      </p:sp>
      <p:sp>
        <p:nvSpPr>
          <p:cNvPr id="11" name="Text 8"/>
          <p:cNvSpPr/>
          <p:nvPr/>
        </p:nvSpPr>
        <p:spPr>
          <a:xfrm>
            <a:off x="638175" y="3740051"/>
            <a:ext cx="4438650" cy="214536"/>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Noto Serif Medium" pitchFamily="34" charset="0"/>
                <a:ea typeface="Noto Serif Medium" pitchFamily="34" charset="-122"/>
                <a:cs typeface="Noto Serif Medium" pitchFamily="34" charset="-120"/>
              </a:rPr>
              <a:t>Feature Engineering</a:t>
            </a:r>
            <a:endParaRPr lang="en-US" sz="1350" dirty="0"/>
          </a:p>
        </p:txBody>
      </p:sp>
      <p:sp>
        <p:nvSpPr>
          <p:cNvPr id="12" name="Text 9"/>
          <p:cNvSpPr/>
          <p:nvPr/>
        </p:nvSpPr>
        <p:spPr>
          <a:xfrm>
            <a:off x="638175" y="4034358"/>
            <a:ext cx="4438650" cy="432643"/>
          </a:xfrm>
          <a:prstGeom prst="rect">
            <a:avLst/>
          </a:prstGeom>
          <a:noFill/>
          <a:ln/>
        </p:spPr>
        <p:txBody>
          <a:bodyPr wrap="square" lIns="0" tIns="0" rIns="0" bIns="0" rtlCol="0" anchor="t">
            <a:normAutofit/>
          </a:bodyPr>
          <a:lstStyle/>
          <a:p>
            <a:pPr algn="l" indent="0" marL="0">
              <a:lnSpc>
                <a:spcPct val="131000"/>
              </a:lnSpc>
              <a:buNone/>
            </a:pPr>
            <a:r>
              <a:rPr lang="en-US" sz="1050" dirty="0">
                <a:solidFill>
                  <a:srgbClr val="000000"/>
                </a:solidFill>
                <a:latin typeface="Noto Serif" pitchFamily="34" charset="0"/>
                <a:ea typeface="Noto Serif" pitchFamily="34" charset="-122"/>
                <a:cs typeface="Noto Serif" pitchFamily="34" charset="-120"/>
              </a:rPr>
              <a:t>Combines sentiment vectors with metadata features — genre, author, publication year — into a unified model input.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93576"/>
            <a:ext cx="8151763" cy="228451"/>
          </a:xfrm>
          <a:prstGeom prst="rect">
            <a:avLst/>
          </a:prstGeom>
          <a:noFill/>
          <a:ln/>
        </p:spPr>
        <p:txBody>
          <a:bodyPr wrap="none" lIns="0" tIns="0" rIns="0" bIns="0" rtlCol="0" anchor="t"/>
          <a:lstStyle/>
          <a:p>
            <a:pPr algn="l" indent="0" marL="0">
              <a:lnSpc>
                <a:spcPct val="104000"/>
              </a:lnSpc>
              <a:buNone/>
            </a:pPr>
            <a:r>
              <a:rPr lang="en-US" sz="1400" dirty="0">
                <a:solidFill>
                  <a:srgbClr val="3A3A3A"/>
                </a:solidFill>
                <a:latin typeface="Noto Serif Medium" pitchFamily="34" charset="0"/>
                <a:ea typeface="Noto Serif Medium" pitchFamily="34" charset="-122"/>
                <a:cs typeface="Noto Serif Medium" pitchFamily="34" charset="-120"/>
              </a:rPr>
              <a:t>Machine Learning Prediction Model</a:t>
            </a:r>
            <a:endParaRPr lang="en-US" sz="1400" dirty="0"/>
          </a:p>
        </p:txBody>
      </p:sp>
      <p:pic>
        <p:nvPicPr>
          <p:cNvPr id="3" name="Image 0" descr="preencoded.png">    </p:cNvPr>
          <p:cNvPicPr>
            <a:picLocks noChangeAspect="1"/>
          </p:cNvPicPr>
          <p:nvPr/>
        </p:nvPicPr>
        <p:blipFill>
          <a:blip r:embed="rId1"/>
          <a:stretch>
            <a:fillRect/>
          </a:stretch>
        </p:blipFill>
        <p:spPr>
          <a:xfrm>
            <a:off x="496119" y="720849"/>
            <a:ext cx="3986733" cy="3986733"/>
          </a:xfrm>
          <a:prstGeom prst="rect">
            <a:avLst/>
          </a:prstGeom>
        </p:spPr>
      </p:pic>
      <p:sp>
        <p:nvSpPr>
          <p:cNvPr id="4" name="Text 1"/>
          <p:cNvSpPr/>
          <p:nvPr/>
        </p:nvSpPr>
        <p:spPr>
          <a:xfrm>
            <a:off x="4665911" y="2341290"/>
            <a:ext cx="3986733" cy="114226"/>
          </a:xfrm>
          <a:prstGeom prst="rect">
            <a:avLst/>
          </a:prstGeom>
          <a:noFill/>
          <a:ln/>
        </p:spPr>
        <p:txBody>
          <a:bodyPr wrap="none" lIns="0" tIns="0" rIns="0" bIns="0" rtlCol="0" anchor="t"/>
          <a:lstStyle/>
          <a:p>
            <a:pPr algn="l" indent="0" marL="0">
              <a:lnSpc>
                <a:spcPct val="104000"/>
              </a:lnSpc>
              <a:buNone/>
            </a:pPr>
            <a:r>
              <a:rPr lang="en-US" sz="700" dirty="0">
                <a:solidFill>
                  <a:srgbClr val="3A3A3A"/>
                </a:solidFill>
                <a:latin typeface="Noto Serif Medium" pitchFamily="34" charset="0"/>
                <a:ea typeface="Noto Serif Medium" pitchFamily="34" charset="-122"/>
                <a:cs typeface="Noto Serif Medium" pitchFamily="34" charset="-120"/>
              </a:rPr>
              <a:t>What the Model Learns</a:t>
            </a:r>
            <a:endParaRPr lang="en-US" sz="700" dirty="0"/>
          </a:p>
        </p:txBody>
      </p:sp>
      <p:sp>
        <p:nvSpPr>
          <p:cNvPr id="5" name="Text 2"/>
          <p:cNvSpPr/>
          <p:nvPr/>
        </p:nvSpPr>
        <p:spPr>
          <a:xfrm>
            <a:off x="4665911" y="2493169"/>
            <a:ext cx="3986733" cy="265658"/>
          </a:xfrm>
          <a:prstGeom prst="rect">
            <a:avLst/>
          </a:prstGeom>
          <a:noFill/>
          <a:ln/>
        </p:spPr>
        <p:txBody>
          <a:bodyPr wrap="square" lIns="0" tIns="0" rIns="0" bIns="0" rtlCol="0" anchor="t">
            <a:normAutofit/>
          </a:bodyPr>
          <a:lstStyle/>
          <a:p>
            <a:pPr algn="l" indent="0" marL="0">
              <a:lnSpc>
                <a:spcPct val="101000"/>
              </a:lnSpc>
              <a:buNone/>
            </a:pPr>
            <a:r>
              <a:rPr lang="en-US" sz="550" dirty="0">
                <a:solidFill>
                  <a:srgbClr val="4C4C4C"/>
                </a:solidFill>
                <a:latin typeface="Noto Serif" pitchFamily="34" charset="0"/>
                <a:ea typeface="Noto Serif" pitchFamily="34" charset="-122"/>
                <a:cs typeface="Noto Serif" pitchFamily="34" charset="-120"/>
              </a:rPr>
              <a:t>The ML model is trained on historical book-rating pairs, learning how metadata attributes and sentiment signals correlate with actual reader ratings. It generalises to new titles by recognising patterns across genre norms, author reputation, and the emotional tone of early reviews.</a:t>
            </a:r>
            <a:endParaRPr lang="en-US" sz="550" dirty="0"/>
          </a:p>
        </p:txBody>
      </p:sp>
      <p:sp>
        <p:nvSpPr>
          <p:cNvPr id="6" name="Shape 3"/>
          <p:cNvSpPr/>
          <p:nvPr/>
        </p:nvSpPr>
        <p:spPr>
          <a:xfrm>
            <a:off x="4665911" y="2801169"/>
            <a:ext cx="3986733" cy="281285"/>
          </a:xfrm>
          <a:prstGeom prst="roundRect">
            <a:avLst>
              <a:gd name="adj" fmla="val 10915"/>
            </a:avLst>
          </a:prstGeom>
          <a:solidFill>
            <a:srgbClr val="E8E6E3"/>
          </a:solidFill>
          <a:ln/>
        </p:spPr>
      </p:sp>
      <p:pic>
        <p:nvPicPr>
          <p:cNvPr id="7" name="Image 1" descr="preencoded.png">    </p:cNvPr>
          <p:cNvPicPr>
            <a:picLocks noChangeAspect="1"/>
          </p:cNvPicPr>
          <p:nvPr/>
        </p:nvPicPr>
        <p:blipFill>
          <a:blip r:embed="rId2"/>
          <a:stretch>
            <a:fillRect/>
          </a:stretch>
        </p:blipFill>
        <p:spPr>
          <a:xfrm>
            <a:off x="4738985" y="2899916"/>
            <a:ext cx="91306" cy="73075"/>
          </a:xfrm>
          <a:prstGeom prst="rect">
            <a:avLst/>
          </a:prstGeom>
        </p:spPr>
      </p:pic>
      <p:sp>
        <p:nvSpPr>
          <p:cNvPr id="8" name="Text 4"/>
          <p:cNvSpPr/>
          <p:nvPr/>
        </p:nvSpPr>
        <p:spPr>
          <a:xfrm>
            <a:off x="4903366" y="2853258"/>
            <a:ext cx="3676204" cy="177105"/>
          </a:xfrm>
          <a:prstGeom prst="rect">
            <a:avLst/>
          </a:prstGeom>
          <a:noFill/>
          <a:ln/>
        </p:spPr>
        <p:txBody>
          <a:bodyPr wrap="square" lIns="0" tIns="0" rIns="0" bIns="0" rtlCol="0" anchor="t">
            <a:normAutofit/>
          </a:bodyPr>
          <a:lstStyle/>
          <a:p>
            <a:pPr algn="l" indent="0" marL="0">
              <a:lnSpc>
                <a:spcPct val="101000"/>
              </a:lnSpc>
              <a:buNone/>
            </a:pPr>
            <a:r>
              <a:rPr lang="en-US" sz="550" dirty="0">
                <a:solidFill>
                  <a:srgbClr val="000000"/>
                </a:solidFill>
                <a:latin typeface="Noto Serif" pitchFamily="34" charset="0"/>
                <a:ea typeface="Noto Serif" pitchFamily="34" charset="-122"/>
                <a:cs typeface="Noto Serif" pitchFamily="34" charset="-120"/>
              </a:rPr>
              <a:t>Predictions include a confidence interval, enabling platforms to weigh certainty when surfacing recommendations.</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160562"/>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Dashboard &amp; Visualisation Outputs</a:t>
            </a:r>
            <a:endParaRPr lang="en-US" sz="2750" dirty="0"/>
          </a:p>
        </p:txBody>
      </p:sp>
      <p:pic>
        <p:nvPicPr>
          <p:cNvPr id="3" name="Image 0" descr="preencoded.png">    </p:cNvPr>
          <p:cNvPicPr>
            <a:picLocks noChangeAspect="1"/>
          </p:cNvPicPr>
          <p:nvPr/>
        </p:nvPicPr>
        <p:blipFill>
          <a:blip r:embed="rId1"/>
          <a:stretch>
            <a:fillRect/>
          </a:stretch>
        </p:blipFill>
        <p:spPr>
          <a:xfrm>
            <a:off x="496119" y="1887066"/>
            <a:ext cx="1507480" cy="931664"/>
          </a:xfrm>
          <a:prstGeom prst="rect">
            <a:avLst/>
          </a:prstGeom>
        </p:spPr>
      </p:pic>
      <p:sp>
        <p:nvSpPr>
          <p:cNvPr id="4" name="Text 1"/>
          <p:cNvSpPr/>
          <p:nvPr/>
        </p:nvSpPr>
        <p:spPr>
          <a:xfrm>
            <a:off x="496119" y="2995910"/>
            <a:ext cx="2599134"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Rating Trend Reports</a:t>
            </a:r>
            <a:endParaRPr lang="en-US" sz="1350" dirty="0"/>
          </a:p>
        </p:txBody>
      </p:sp>
      <p:sp>
        <p:nvSpPr>
          <p:cNvPr id="5" name="Text 2"/>
          <p:cNvSpPr/>
          <p:nvPr/>
        </p:nvSpPr>
        <p:spPr>
          <a:xfrm>
            <a:off x="496119" y="3302422"/>
            <a:ext cx="2599134"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Visualise predicted vs. actual ratings over time, identifying shifts in reader sentiment and genre performance.</a:t>
            </a:r>
            <a:endParaRPr lang="en-US" sz="1100" dirty="0"/>
          </a:p>
        </p:txBody>
      </p:sp>
      <p:pic>
        <p:nvPicPr>
          <p:cNvPr id="6" name="Image 1" descr="preencoded.png">    </p:cNvPr>
          <p:cNvPicPr>
            <a:picLocks noChangeAspect="1"/>
          </p:cNvPicPr>
          <p:nvPr/>
        </p:nvPicPr>
        <p:blipFill>
          <a:blip r:embed="rId2"/>
          <a:stretch>
            <a:fillRect/>
          </a:stretch>
        </p:blipFill>
        <p:spPr>
          <a:xfrm>
            <a:off x="3272433" y="1887066"/>
            <a:ext cx="1507480" cy="931664"/>
          </a:xfrm>
          <a:prstGeom prst="rect">
            <a:avLst/>
          </a:prstGeom>
        </p:spPr>
      </p:pic>
      <p:sp>
        <p:nvSpPr>
          <p:cNvPr id="7" name="Text 3"/>
          <p:cNvSpPr/>
          <p:nvPr/>
        </p:nvSpPr>
        <p:spPr>
          <a:xfrm>
            <a:off x="3272433" y="2995910"/>
            <a:ext cx="2599134"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Genre &amp; Author Analytics</a:t>
            </a:r>
            <a:endParaRPr lang="en-US" sz="1350" dirty="0"/>
          </a:p>
        </p:txBody>
      </p:sp>
      <p:sp>
        <p:nvSpPr>
          <p:cNvPr id="8" name="Text 4"/>
          <p:cNvSpPr/>
          <p:nvPr/>
        </p:nvSpPr>
        <p:spPr>
          <a:xfrm>
            <a:off x="3272433" y="3302422"/>
            <a:ext cx="2599134"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Break down predictions by genre, author, and publisher to uncover quality patterns across the catalogue.</a:t>
            </a:r>
            <a:endParaRPr lang="en-US" sz="1100" dirty="0"/>
          </a:p>
        </p:txBody>
      </p:sp>
      <p:pic>
        <p:nvPicPr>
          <p:cNvPr id="9" name="Image 2" descr="preencoded.png">    </p:cNvPr>
          <p:cNvPicPr>
            <a:picLocks noChangeAspect="1"/>
          </p:cNvPicPr>
          <p:nvPr/>
        </p:nvPicPr>
        <p:blipFill>
          <a:blip r:embed="rId3"/>
          <a:stretch>
            <a:fillRect/>
          </a:stretch>
        </p:blipFill>
        <p:spPr>
          <a:xfrm>
            <a:off x="6048747" y="1887066"/>
            <a:ext cx="1507480" cy="931664"/>
          </a:xfrm>
          <a:prstGeom prst="rect">
            <a:avLst/>
          </a:prstGeom>
        </p:spPr>
      </p:pic>
      <p:sp>
        <p:nvSpPr>
          <p:cNvPr id="10" name="Text 5"/>
          <p:cNvSpPr/>
          <p:nvPr/>
        </p:nvSpPr>
        <p:spPr>
          <a:xfrm>
            <a:off x="6048747" y="2995910"/>
            <a:ext cx="2599134"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Recommendation Integration</a:t>
            </a:r>
            <a:endParaRPr lang="en-US" sz="1350" dirty="0"/>
          </a:p>
        </p:txBody>
      </p:sp>
      <p:sp>
        <p:nvSpPr>
          <p:cNvPr id="11" name="Text 6"/>
          <p:cNvSpPr/>
          <p:nvPr/>
        </p:nvSpPr>
        <p:spPr>
          <a:xfrm>
            <a:off x="6048747" y="3302422"/>
            <a:ext cx="2599134"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Predicted scores feed directly into recommendation engines, improving discovery for under-reviewed titles.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417016"/>
            <a:ext cx="4722763" cy="415305"/>
          </a:xfrm>
          <a:prstGeom prst="rect">
            <a:avLst/>
          </a:prstGeom>
          <a:noFill/>
          <a:ln/>
        </p:spPr>
        <p:txBody>
          <a:bodyPr wrap="none" lIns="0" tIns="0" rIns="0" bIns="0" rtlCol="0" anchor="t"/>
          <a:lstStyle/>
          <a:p>
            <a:pPr algn="l" indent="0" marL="0">
              <a:lnSpc>
                <a:spcPct val="104000"/>
              </a:lnSpc>
              <a:buNone/>
            </a:pPr>
            <a:r>
              <a:rPr lang="en-US" sz="2600" dirty="0">
                <a:solidFill>
                  <a:srgbClr val="3A3A3A"/>
                </a:solidFill>
                <a:latin typeface="Noto Serif Medium" pitchFamily="34" charset="0"/>
                <a:ea typeface="Noto Serif Medium" pitchFamily="34" charset="-122"/>
                <a:cs typeface="Noto Serif Medium" pitchFamily="34" charset="-120"/>
              </a:rPr>
              <a:t>Who Benefits &amp; How</a:t>
            </a:r>
            <a:endParaRPr lang="en-US" sz="26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119" y="1019175"/>
            <a:ext cx="265807" cy="265807"/>
          </a:xfrm>
          <a:prstGeom prst="rect">
            <a:avLst/>
          </a:prstGeom>
        </p:spPr>
      </p:pic>
      <p:sp>
        <p:nvSpPr>
          <p:cNvPr id="5" name="Text 1"/>
          <p:cNvSpPr/>
          <p:nvPr/>
        </p:nvSpPr>
        <p:spPr>
          <a:xfrm>
            <a:off x="917674" y="1064791"/>
            <a:ext cx="4301207" cy="207690"/>
          </a:xfrm>
          <a:prstGeom prst="rect">
            <a:avLst/>
          </a:prstGeom>
          <a:noFill/>
          <a:ln/>
        </p:spPr>
        <p:txBody>
          <a:bodyPr wrap="none" lIns="0" tIns="0" rIns="0" bIns="0" rtlCol="0" anchor="t"/>
          <a:lstStyle/>
          <a:p>
            <a:pPr algn="l" indent="0" marL="0">
              <a:lnSpc>
                <a:spcPct val="104000"/>
              </a:lnSpc>
              <a:buNone/>
            </a:pPr>
            <a:r>
              <a:rPr lang="en-US" sz="1300" dirty="0">
                <a:solidFill>
                  <a:srgbClr val="4C4C4C"/>
                </a:solidFill>
                <a:latin typeface="Noto Serif Medium" pitchFamily="34" charset="0"/>
                <a:ea typeface="Noto Serif Medium" pitchFamily="34" charset="-122"/>
                <a:cs typeface="Noto Serif Medium" pitchFamily="34" charset="-120"/>
              </a:rPr>
              <a:t>Readers</a:t>
            </a:r>
            <a:endParaRPr lang="en-US" sz="1300" dirty="0"/>
          </a:p>
        </p:txBody>
      </p:sp>
      <p:sp>
        <p:nvSpPr>
          <p:cNvPr id="6" name="Text 2"/>
          <p:cNvSpPr/>
          <p:nvPr/>
        </p:nvSpPr>
        <p:spPr>
          <a:xfrm>
            <a:off x="917674" y="1347192"/>
            <a:ext cx="4301207" cy="411956"/>
          </a:xfrm>
          <a:prstGeom prst="rect">
            <a:avLst/>
          </a:prstGeom>
          <a:noFill/>
          <a:ln/>
        </p:spPr>
        <p:txBody>
          <a:bodyPr wrap="square" lIns="0" tIns="0" rIns="0" bIns="0" rtlCol="0" anchor="t">
            <a:normAutofit/>
          </a:bodyPr>
          <a:lstStyle/>
          <a:p>
            <a:pPr algn="l" indent="0" marL="0">
              <a:lnSpc>
                <a:spcPct val="129000"/>
              </a:lnSpc>
              <a:buNone/>
            </a:pPr>
            <a:r>
              <a:rPr lang="en-US" sz="1000" dirty="0">
                <a:solidFill>
                  <a:srgbClr val="4C4C4C"/>
                </a:solidFill>
                <a:latin typeface="Noto Serif" pitchFamily="34" charset="0"/>
                <a:ea typeface="Noto Serif" pitchFamily="34" charset="-122"/>
                <a:cs typeface="Noto Serif" pitchFamily="34" charset="-120"/>
              </a:rPr>
              <a:t>Discover high-quality titles earlier, even before ratings accumulate — reducing decision fatigue.</a:t>
            </a:r>
            <a:endParaRPr lang="en-US" sz="10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119" y="2008287"/>
            <a:ext cx="265807" cy="265807"/>
          </a:xfrm>
          <a:prstGeom prst="rect">
            <a:avLst/>
          </a:prstGeom>
        </p:spPr>
      </p:pic>
      <p:sp>
        <p:nvSpPr>
          <p:cNvPr id="8" name="Text 3"/>
          <p:cNvSpPr/>
          <p:nvPr/>
        </p:nvSpPr>
        <p:spPr>
          <a:xfrm>
            <a:off x="917674" y="2053903"/>
            <a:ext cx="4301207" cy="207690"/>
          </a:xfrm>
          <a:prstGeom prst="rect">
            <a:avLst/>
          </a:prstGeom>
          <a:noFill/>
          <a:ln/>
        </p:spPr>
        <p:txBody>
          <a:bodyPr wrap="none" lIns="0" tIns="0" rIns="0" bIns="0" rtlCol="0" anchor="t"/>
          <a:lstStyle/>
          <a:p>
            <a:pPr algn="l" indent="0" marL="0">
              <a:lnSpc>
                <a:spcPct val="104000"/>
              </a:lnSpc>
              <a:buNone/>
            </a:pPr>
            <a:r>
              <a:rPr lang="en-US" sz="1300" dirty="0">
                <a:solidFill>
                  <a:srgbClr val="4C4C4C"/>
                </a:solidFill>
                <a:latin typeface="Noto Serif Medium" pitchFamily="34" charset="0"/>
                <a:ea typeface="Noto Serif Medium" pitchFamily="34" charset="-122"/>
                <a:cs typeface="Noto Serif Medium" pitchFamily="34" charset="-120"/>
              </a:rPr>
              <a:t>Publishers</a:t>
            </a:r>
            <a:endParaRPr lang="en-US" sz="1300" dirty="0"/>
          </a:p>
        </p:txBody>
      </p:sp>
      <p:sp>
        <p:nvSpPr>
          <p:cNvPr id="9" name="Text 4"/>
          <p:cNvSpPr/>
          <p:nvPr/>
        </p:nvSpPr>
        <p:spPr>
          <a:xfrm>
            <a:off x="917674" y="2336304"/>
            <a:ext cx="4301207" cy="411956"/>
          </a:xfrm>
          <a:prstGeom prst="rect">
            <a:avLst/>
          </a:prstGeom>
          <a:noFill/>
          <a:ln/>
        </p:spPr>
        <p:txBody>
          <a:bodyPr wrap="square" lIns="0" tIns="0" rIns="0" bIns="0" rtlCol="0" anchor="t">
            <a:normAutofit/>
          </a:bodyPr>
          <a:lstStyle/>
          <a:p>
            <a:pPr algn="l" indent="0" marL="0">
              <a:lnSpc>
                <a:spcPct val="129000"/>
              </a:lnSpc>
              <a:buNone/>
            </a:pPr>
            <a:r>
              <a:rPr lang="en-US" sz="1000" dirty="0">
                <a:solidFill>
                  <a:srgbClr val="4C4C4C"/>
                </a:solidFill>
                <a:latin typeface="Noto Serif" pitchFamily="34" charset="0"/>
                <a:ea typeface="Noto Serif" pitchFamily="34" charset="-122"/>
                <a:cs typeface="Noto Serif" pitchFamily="34" charset="-120"/>
              </a:rPr>
              <a:t>Gauge anticipated reader reception and refine marketing strategies based on predicted sentiment trends.</a:t>
            </a:r>
            <a:endParaRPr lang="en-US" sz="10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6119" y="2997398"/>
            <a:ext cx="265807" cy="265807"/>
          </a:xfrm>
          <a:prstGeom prst="rect">
            <a:avLst/>
          </a:prstGeom>
        </p:spPr>
      </p:pic>
      <p:sp>
        <p:nvSpPr>
          <p:cNvPr id="11" name="Text 5"/>
          <p:cNvSpPr/>
          <p:nvPr/>
        </p:nvSpPr>
        <p:spPr>
          <a:xfrm>
            <a:off x="917674" y="3043014"/>
            <a:ext cx="4301207" cy="207690"/>
          </a:xfrm>
          <a:prstGeom prst="rect">
            <a:avLst/>
          </a:prstGeom>
          <a:noFill/>
          <a:ln/>
        </p:spPr>
        <p:txBody>
          <a:bodyPr wrap="none" lIns="0" tIns="0" rIns="0" bIns="0" rtlCol="0" anchor="t"/>
          <a:lstStyle/>
          <a:p>
            <a:pPr algn="l" indent="0" marL="0">
              <a:lnSpc>
                <a:spcPct val="104000"/>
              </a:lnSpc>
              <a:buNone/>
            </a:pPr>
            <a:r>
              <a:rPr lang="en-US" sz="1300" dirty="0">
                <a:solidFill>
                  <a:srgbClr val="4C4C4C"/>
                </a:solidFill>
                <a:latin typeface="Noto Serif Medium" pitchFamily="34" charset="0"/>
                <a:ea typeface="Noto Serif Medium" pitchFamily="34" charset="-122"/>
                <a:cs typeface="Noto Serif Medium" pitchFamily="34" charset="-120"/>
              </a:rPr>
              <a:t>Online Bookstores</a:t>
            </a:r>
            <a:endParaRPr lang="en-US" sz="1300" dirty="0"/>
          </a:p>
        </p:txBody>
      </p:sp>
      <p:sp>
        <p:nvSpPr>
          <p:cNvPr id="12" name="Text 6"/>
          <p:cNvSpPr/>
          <p:nvPr/>
        </p:nvSpPr>
        <p:spPr>
          <a:xfrm>
            <a:off x="917674" y="3325416"/>
            <a:ext cx="4301207" cy="411956"/>
          </a:xfrm>
          <a:prstGeom prst="rect">
            <a:avLst/>
          </a:prstGeom>
          <a:noFill/>
          <a:ln/>
        </p:spPr>
        <p:txBody>
          <a:bodyPr wrap="square" lIns="0" tIns="0" rIns="0" bIns="0" rtlCol="0" anchor="t">
            <a:normAutofit/>
          </a:bodyPr>
          <a:lstStyle/>
          <a:p>
            <a:pPr algn="l" indent="0" marL="0">
              <a:lnSpc>
                <a:spcPct val="129000"/>
              </a:lnSpc>
              <a:buNone/>
            </a:pPr>
            <a:r>
              <a:rPr lang="en-US" sz="1000" dirty="0">
                <a:solidFill>
                  <a:srgbClr val="4C4C4C"/>
                </a:solidFill>
                <a:latin typeface="Noto Serif" pitchFamily="34" charset="0"/>
                <a:ea typeface="Noto Serif" pitchFamily="34" charset="-122"/>
                <a:cs typeface="Noto Serif" pitchFamily="34" charset="-120"/>
              </a:rPr>
              <a:t>Improve recommendation accuracy, reduce cold-start problems, and increase user engagement and conversions.</a:t>
            </a:r>
            <a:endParaRPr lang="en-US" sz="10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6119" y="3986510"/>
            <a:ext cx="265807" cy="265807"/>
          </a:xfrm>
          <a:prstGeom prst="rect">
            <a:avLst/>
          </a:prstGeom>
        </p:spPr>
      </p:pic>
      <p:sp>
        <p:nvSpPr>
          <p:cNvPr id="14" name="Text 7"/>
          <p:cNvSpPr/>
          <p:nvPr/>
        </p:nvSpPr>
        <p:spPr>
          <a:xfrm>
            <a:off x="917674" y="4032126"/>
            <a:ext cx="4301207" cy="207690"/>
          </a:xfrm>
          <a:prstGeom prst="rect">
            <a:avLst/>
          </a:prstGeom>
          <a:noFill/>
          <a:ln/>
        </p:spPr>
        <p:txBody>
          <a:bodyPr wrap="none" lIns="0" tIns="0" rIns="0" bIns="0" rtlCol="0" anchor="t"/>
          <a:lstStyle/>
          <a:p>
            <a:pPr algn="l" indent="0" marL="0">
              <a:lnSpc>
                <a:spcPct val="104000"/>
              </a:lnSpc>
              <a:buNone/>
            </a:pPr>
            <a:r>
              <a:rPr lang="en-US" sz="1300" dirty="0">
                <a:solidFill>
                  <a:srgbClr val="4C4C4C"/>
                </a:solidFill>
                <a:latin typeface="Noto Serif Medium" pitchFamily="34" charset="0"/>
                <a:ea typeface="Noto Serif Medium" pitchFamily="34" charset="-122"/>
                <a:cs typeface="Noto Serif Medium" pitchFamily="34" charset="-120"/>
              </a:rPr>
              <a:t>Digital Libraries</a:t>
            </a:r>
            <a:endParaRPr lang="en-US" sz="1300" dirty="0"/>
          </a:p>
        </p:txBody>
      </p:sp>
      <p:sp>
        <p:nvSpPr>
          <p:cNvPr id="15" name="Text 8"/>
          <p:cNvSpPr/>
          <p:nvPr/>
        </p:nvSpPr>
        <p:spPr>
          <a:xfrm>
            <a:off x="917674" y="4314527"/>
            <a:ext cx="4301207" cy="411956"/>
          </a:xfrm>
          <a:prstGeom prst="rect">
            <a:avLst/>
          </a:prstGeom>
          <a:noFill/>
          <a:ln/>
        </p:spPr>
        <p:txBody>
          <a:bodyPr wrap="square" lIns="0" tIns="0" rIns="0" bIns="0" rtlCol="0" anchor="t">
            <a:normAutofit/>
          </a:bodyPr>
          <a:lstStyle/>
          <a:p>
            <a:pPr algn="l" indent="0" marL="0">
              <a:lnSpc>
                <a:spcPct val="129000"/>
              </a:lnSpc>
              <a:buNone/>
            </a:pPr>
            <a:r>
              <a:rPr lang="en-US" sz="1000" dirty="0">
                <a:solidFill>
                  <a:srgbClr val="4C4C4C"/>
                </a:solidFill>
                <a:latin typeface="Noto Serif" pitchFamily="34" charset="0"/>
                <a:ea typeface="Noto Serif" pitchFamily="34" charset="-122"/>
                <a:cs typeface="Noto Serif" pitchFamily="34" charset="-120"/>
              </a:rPr>
              <a:t>Curate collections intelligently, prioritise acquisitions, and optimise content management workflows.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781273"/>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Key Takeaways</a:t>
            </a:r>
            <a:endParaRPr lang="en-US" sz="2750" dirty="0"/>
          </a:p>
        </p:txBody>
      </p:sp>
      <p:sp>
        <p:nvSpPr>
          <p:cNvPr id="3" name="Shape 1"/>
          <p:cNvSpPr/>
          <p:nvPr/>
        </p:nvSpPr>
        <p:spPr>
          <a:xfrm>
            <a:off x="496119" y="1507778"/>
            <a:ext cx="318939" cy="318939"/>
          </a:xfrm>
          <a:prstGeom prst="roundRect">
            <a:avLst>
              <a:gd name="adj" fmla="val 18669"/>
            </a:avLst>
          </a:prstGeom>
          <a:solidFill>
            <a:srgbClr val="E6DED2">
              <a:alpha val="50000"/>
            </a:srgbClr>
          </a:solidFill>
          <a:ln w="4763">
            <a:solidFill>
              <a:srgbClr val="CCC4B8"/>
            </a:solidFill>
            <a:prstDash val="solid"/>
          </a:ln>
          <a:effectLst>
            <a:outerShdw sx="100000" sy="100000" kx="0" ky="0" algn="bl" rotWithShape="0" blurRad="101600" dist="17780" dir="2700000">
              <a:srgbClr val="ccc4b8">
                <a:alpha val="100000"/>
              </a:srgbClr>
            </a:outerShdw>
          </a:effectLst>
        </p:spPr>
      </p:sp>
      <p:sp>
        <p:nvSpPr>
          <p:cNvPr id="4" name="Text 2"/>
          <p:cNvSpPr/>
          <p:nvPr/>
        </p:nvSpPr>
        <p:spPr>
          <a:xfrm>
            <a:off x="549287" y="1534344"/>
            <a:ext cx="212601" cy="265807"/>
          </a:xfrm>
          <a:prstGeom prst="rect">
            <a:avLst/>
          </a:prstGeom>
          <a:noFill/>
          <a:ln/>
        </p:spPr>
        <p:txBody>
          <a:bodyPr wrap="none" lIns="0" tIns="0" rIns="0" bIns="0" rtlCol="0" anchor="ctr"/>
          <a:lstStyle/>
          <a:p>
            <a:pPr algn="ctr" indent="0" marL="0">
              <a:lnSpc>
                <a:spcPct val="100000"/>
              </a:lnSpc>
              <a:buNone/>
            </a:pPr>
            <a:r>
              <a:rPr lang="en-US" sz="1650" dirty="0">
                <a:solidFill>
                  <a:srgbClr val="000000"/>
                </a:solidFill>
                <a:latin typeface="Noto Serif Medium" pitchFamily="34" charset="0"/>
                <a:ea typeface="Noto Serif Medium" pitchFamily="34" charset="-122"/>
                <a:cs typeface="Noto Serif Medium" pitchFamily="34" charset="-120"/>
              </a:rPr>
              <a:t>1</a:t>
            </a:r>
            <a:endParaRPr lang="en-US" sz="1650" dirty="0"/>
          </a:p>
        </p:txBody>
      </p:sp>
      <p:sp>
        <p:nvSpPr>
          <p:cNvPr id="5" name="Text 3"/>
          <p:cNvSpPr/>
          <p:nvPr/>
        </p:nvSpPr>
        <p:spPr>
          <a:xfrm>
            <a:off x="956816" y="1556445"/>
            <a:ext cx="3526557"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Beyond Star Ratings</a:t>
            </a:r>
            <a:endParaRPr lang="en-US" sz="1350" dirty="0"/>
          </a:p>
        </p:txBody>
      </p:sp>
      <p:sp>
        <p:nvSpPr>
          <p:cNvPr id="6" name="Text 4"/>
          <p:cNvSpPr/>
          <p:nvPr/>
        </p:nvSpPr>
        <p:spPr>
          <a:xfrm>
            <a:off x="956816" y="1862956"/>
            <a:ext cx="352655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Predicts book quality using metadata and sentiment — not just historical user scores.</a:t>
            </a:r>
            <a:endParaRPr lang="en-US" sz="1100" dirty="0"/>
          </a:p>
        </p:txBody>
      </p:sp>
      <p:sp>
        <p:nvSpPr>
          <p:cNvPr id="7" name="Shape 5"/>
          <p:cNvSpPr/>
          <p:nvPr/>
        </p:nvSpPr>
        <p:spPr>
          <a:xfrm>
            <a:off x="4660553" y="1507778"/>
            <a:ext cx="318939" cy="318939"/>
          </a:xfrm>
          <a:prstGeom prst="roundRect">
            <a:avLst>
              <a:gd name="adj" fmla="val 18669"/>
            </a:avLst>
          </a:prstGeom>
          <a:solidFill>
            <a:srgbClr val="E6DED2">
              <a:alpha val="50000"/>
            </a:srgbClr>
          </a:solidFill>
          <a:ln w="4763">
            <a:solidFill>
              <a:srgbClr val="CCC4B8"/>
            </a:solidFill>
            <a:prstDash val="solid"/>
          </a:ln>
          <a:effectLst>
            <a:outerShdw sx="100000" sy="100000" kx="0" ky="0" algn="bl" rotWithShape="0" blurRad="101600" dist="17780" dir="2700000">
              <a:srgbClr val="ccc4b8">
                <a:alpha val="100000"/>
              </a:srgbClr>
            </a:outerShdw>
          </a:effectLst>
        </p:spPr>
      </p:sp>
      <p:sp>
        <p:nvSpPr>
          <p:cNvPr id="8" name="Text 6"/>
          <p:cNvSpPr/>
          <p:nvPr/>
        </p:nvSpPr>
        <p:spPr>
          <a:xfrm>
            <a:off x="4713722" y="1534344"/>
            <a:ext cx="212601" cy="265807"/>
          </a:xfrm>
          <a:prstGeom prst="rect">
            <a:avLst/>
          </a:prstGeom>
          <a:noFill/>
          <a:ln/>
        </p:spPr>
        <p:txBody>
          <a:bodyPr wrap="none" lIns="0" tIns="0" rIns="0" bIns="0" rtlCol="0" anchor="ctr"/>
          <a:lstStyle/>
          <a:p>
            <a:pPr algn="ctr" indent="0" marL="0">
              <a:lnSpc>
                <a:spcPct val="100000"/>
              </a:lnSpc>
              <a:buNone/>
            </a:pPr>
            <a:r>
              <a:rPr lang="en-US" sz="1650" dirty="0">
                <a:solidFill>
                  <a:srgbClr val="000000"/>
                </a:solidFill>
                <a:latin typeface="Noto Serif Medium" pitchFamily="34" charset="0"/>
                <a:ea typeface="Noto Serif Medium" pitchFamily="34" charset="-122"/>
                <a:cs typeface="Noto Serif Medium" pitchFamily="34" charset="-120"/>
              </a:rPr>
              <a:t>2</a:t>
            </a:r>
            <a:endParaRPr lang="en-US" sz="1650" dirty="0"/>
          </a:p>
        </p:txBody>
      </p:sp>
      <p:sp>
        <p:nvSpPr>
          <p:cNvPr id="9" name="Text 7"/>
          <p:cNvSpPr/>
          <p:nvPr/>
        </p:nvSpPr>
        <p:spPr>
          <a:xfrm>
            <a:off x="5121250" y="1556445"/>
            <a:ext cx="3526631"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NLP-Powered Intelligence</a:t>
            </a:r>
            <a:endParaRPr lang="en-US" sz="1350" dirty="0"/>
          </a:p>
        </p:txBody>
      </p:sp>
      <p:sp>
        <p:nvSpPr>
          <p:cNvPr id="10" name="Text 8"/>
          <p:cNvSpPr/>
          <p:nvPr/>
        </p:nvSpPr>
        <p:spPr>
          <a:xfrm>
            <a:off x="5121250" y="1862956"/>
            <a:ext cx="3526631"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Sentiment analysis decodes the emotional signal in reviews, adding depth to raw ratings.</a:t>
            </a:r>
            <a:endParaRPr lang="en-US" sz="1100" dirty="0"/>
          </a:p>
        </p:txBody>
      </p:sp>
      <p:sp>
        <p:nvSpPr>
          <p:cNvPr id="11" name="Shape 9"/>
          <p:cNvSpPr/>
          <p:nvPr/>
        </p:nvSpPr>
        <p:spPr>
          <a:xfrm>
            <a:off x="496119" y="2600102"/>
            <a:ext cx="318939" cy="318939"/>
          </a:xfrm>
          <a:prstGeom prst="roundRect">
            <a:avLst>
              <a:gd name="adj" fmla="val 18669"/>
            </a:avLst>
          </a:prstGeom>
          <a:solidFill>
            <a:srgbClr val="E6DED2">
              <a:alpha val="50000"/>
            </a:srgbClr>
          </a:solidFill>
          <a:ln w="4763">
            <a:solidFill>
              <a:srgbClr val="CCC4B8"/>
            </a:solidFill>
            <a:prstDash val="solid"/>
          </a:ln>
          <a:effectLst>
            <a:outerShdw sx="100000" sy="100000" kx="0" ky="0" algn="bl" rotWithShape="0" blurRad="101600" dist="17780" dir="2700000">
              <a:srgbClr val="ccc4b8">
                <a:alpha val="100000"/>
              </a:srgbClr>
            </a:outerShdw>
          </a:effectLst>
        </p:spPr>
      </p:sp>
      <p:sp>
        <p:nvSpPr>
          <p:cNvPr id="12" name="Text 10"/>
          <p:cNvSpPr/>
          <p:nvPr/>
        </p:nvSpPr>
        <p:spPr>
          <a:xfrm>
            <a:off x="549287" y="2626668"/>
            <a:ext cx="212601" cy="265807"/>
          </a:xfrm>
          <a:prstGeom prst="rect">
            <a:avLst/>
          </a:prstGeom>
          <a:noFill/>
          <a:ln/>
        </p:spPr>
        <p:txBody>
          <a:bodyPr wrap="none" lIns="0" tIns="0" rIns="0" bIns="0" rtlCol="0" anchor="ctr"/>
          <a:lstStyle/>
          <a:p>
            <a:pPr algn="ctr" indent="0" marL="0">
              <a:lnSpc>
                <a:spcPct val="100000"/>
              </a:lnSpc>
              <a:buNone/>
            </a:pPr>
            <a:r>
              <a:rPr lang="en-US" sz="1650" dirty="0">
                <a:solidFill>
                  <a:srgbClr val="000000"/>
                </a:solidFill>
                <a:latin typeface="Noto Serif Medium" pitchFamily="34" charset="0"/>
                <a:ea typeface="Noto Serif Medium" pitchFamily="34" charset="-122"/>
                <a:cs typeface="Noto Serif Medium" pitchFamily="34" charset="-120"/>
              </a:rPr>
              <a:t>3</a:t>
            </a:r>
            <a:endParaRPr lang="en-US" sz="1650" dirty="0"/>
          </a:p>
        </p:txBody>
      </p:sp>
      <p:sp>
        <p:nvSpPr>
          <p:cNvPr id="13" name="Text 11"/>
          <p:cNvSpPr/>
          <p:nvPr/>
        </p:nvSpPr>
        <p:spPr>
          <a:xfrm>
            <a:off x="956816" y="2648769"/>
            <a:ext cx="3526557"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Actionable, Scalable Outputs</a:t>
            </a:r>
            <a:endParaRPr lang="en-US" sz="1350" dirty="0"/>
          </a:p>
        </p:txBody>
      </p:sp>
      <p:sp>
        <p:nvSpPr>
          <p:cNvPr id="14" name="Text 12"/>
          <p:cNvSpPr/>
          <p:nvPr/>
        </p:nvSpPr>
        <p:spPr>
          <a:xfrm>
            <a:off x="956816" y="2955280"/>
            <a:ext cx="352655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Delivers dashboards, trend reports, and confidence-scored predictions for real-world platforms.</a:t>
            </a:r>
            <a:endParaRPr lang="en-US" sz="1100" dirty="0"/>
          </a:p>
        </p:txBody>
      </p:sp>
      <p:sp>
        <p:nvSpPr>
          <p:cNvPr id="15" name="Shape 13"/>
          <p:cNvSpPr/>
          <p:nvPr/>
        </p:nvSpPr>
        <p:spPr>
          <a:xfrm>
            <a:off x="4660553" y="2600102"/>
            <a:ext cx="318939" cy="318939"/>
          </a:xfrm>
          <a:prstGeom prst="roundRect">
            <a:avLst>
              <a:gd name="adj" fmla="val 18669"/>
            </a:avLst>
          </a:prstGeom>
          <a:solidFill>
            <a:srgbClr val="E6DED2">
              <a:alpha val="50000"/>
            </a:srgbClr>
          </a:solidFill>
          <a:ln w="4763">
            <a:solidFill>
              <a:srgbClr val="CCC4B8"/>
            </a:solidFill>
            <a:prstDash val="solid"/>
          </a:ln>
          <a:effectLst>
            <a:outerShdw sx="100000" sy="100000" kx="0" ky="0" algn="bl" rotWithShape="0" blurRad="101600" dist="17780" dir="2700000">
              <a:srgbClr val="ccc4b8">
                <a:alpha val="100000"/>
              </a:srgbClr>
            </a:outerShdw>
          </a:effectLst>
        </p:spPr>
      </p:sp>
      <p:sp>
        <p:nvSpPr>
          <p:cNvPr id="16" name="Text 14"/>
          <p:cNvSpPr/>
          <p:nvPr/>
        </p:nvSpPr>
        <p:spPr>
          <a:xfrm>
            <a:off x="4713722" y="2626668"/>
            <a:ext cx="212601" cy="265807"/>
          </a:xfrm>
          <a:prstGeom prst="rect">
            <a:avLst/>
          </a:prstGeom>
          <a:noFill/>
          <a:ln/>
        </p:spPr>
        <p:txBody>
          <a:bodyPr wrap="none" lIns="0" tIns="0" rIns="0" bIns="0" rtlCol="0" anchor="ctr"/>
          <a:lstStyle/>
          <a:p>
            <a:pPr algn="ctr" indent="0" marL="0">
              <a:lnSpc>
                <a:spcPct val="100000"/>
              </a:lnSpc>
              <a:buNone/>
            </a:pPr>
            <a:r>
              <a:rPr lang="en-US" sz="1650" dirty="0">
                <a:solidFill>
                  <a:srgbClr val="000000"/>
                </a:solidFill>
                <a:latin typeface="Noto Serif Medium" pitchFamily="34" charset="0"/>
                <a:ea typeface="Noto Serif Medium" pitchFamily="34" charset="-122"/>
                <a:cs typeface="Noto Serif Medium" pitchFamily="34" charset="-120"/>
              </a:rPr>
              <a:t>4</a:t>
            </a:r>
            <a:endParaRPr lang="en-US" sz="1650" dirty="0"/>
          </a:p>
        </p:txBody>
      </p:sp>
      <p:sp>
        <p:nvSpPr>
          <p:cNvPr id="17" name="Text 15"/>
          <p:cNvSpPr/>
          <p:nvPr/>
        </p:nvSpPr>
        <p:spPr>
          <a:xfrm>
            <a:off x="5121250" y="2648769"/>
            <a:ext cx="3526631"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Secure &amp; Production-Ready</a:t>
            </a:r>
            <a:endParaRPr lang="en-US" sz="1350" dirty="0"/>
          </a:p>
        </p:txBody>
      </p:sp>
      <p:sp>
        <p:nvSpPr>
          <p:cNvPr id="18" name="Text 16"/>
          <p:cNvSpPr/>
          <p:nvPr/>
        </p:nvSpPr>
        <p:spPr>
          <a:xfrm>
            <a:off x="5121250" y="2955280"/>
            <a:ext cx="3526631"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Designed for digital libraries, bookstores, publishers, and recommendation engines at scale.</a:t>
            </a:r>
            <a:endParaRPr lang="en-US" sz="1100" dirty="0"/>
          </a:p>
        </p:txBody>
      </p:sp>
      <p:sp>
        <p:nvSpPr>
          <p:cNvPr id="19" name="Shape 17"/>
          <p:cNvSpPr/>
          <p:nvPr/>
        </p:nvSpPr>
        <p:spPr>
          <a:xfrm>
            <a:off x="496119" y="3568378"/>
            <a:ext cx="8151763" cy="793775"/>
          </a:xfrm>
          <a:prstGeom prst="roundRect">
            <a:avLst>
              <a:gd name="adj" fmla="val 7501"/>
            </a:avLst>
          </a:prstGeom>
          <a:solidFill>
            <a:srgbClr val="B6FCB8"/>
          </a:solidFill>
          <a:ln/>
        </p:spPr>
      </p:sp>
      <p:pic>
        <p:nvPicPr>
          <p:cNvPr id="20" name="Image 0" descr="preencoded.png">    </p:cNvPr>
          <p:cNvPicPr>
            <a:picLocks noChangeAspect="1"/>
          </p:cNvPicPr>
          <p:nvPr/>
        </p:nvPicPr>
        <p:blipFill>
          <a:blip r:embed="rId1"/>
          <a:stretch>
            <a:fillRect/>
          </a:stretch>
        </p:blipFill>
        <p:spPr>
          <a:xfrm>
            <a:off x="637877" y="3769147"/>
            <a:ext cx="177180" cy="141759"/>
          </a:xfrm>
          <a:prstGeom prst="rect">
            <a:avLst/>
          </a:prstGeom>
        </p:spPr>
      </p:pic>
      <p:sp>
        <p:nvSpPr>
          <p:cNvPr id="21" name="Text 18"/>
          <p:cNvSpPr/>
          <p:nvPr/>
        </p:nvSpPr>
        <p:spPr>
          <a:xfrm>
            <a:off x="956816" y="3745557"/>
            <a:ext cx="754930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000000"/>
                </a:solidFill>
                <a:latin typeface="Noto Serif" pitchFamily="34" charset="0"/>
                <a:ea typeface="Noto Serif" pitchFamily="34" charset="-122"/>
                <a:cs typeface="Noto Serif" pitchFamily="34" charset="-120"/>
              </a:rPr>
              <a:t>This system represents a modern, intelligent analytics layer — transforming how book quality is measured, predicted, and surfaced across the digital reading ecosystem.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2026-07-28T05:39:59Z</dcterms:created>
  <dcterms:modified xsi:type="dcterms:W3CDTF">2026-07-28T05:39:59Z</dcterms:modified>
</cp:coreProperties>
</file>